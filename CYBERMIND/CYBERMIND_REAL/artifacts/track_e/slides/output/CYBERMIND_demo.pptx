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93f1d245dc4ada" /><Relationship Type="http://schemas.openxmlformats.org/officeDocument/2006/relationships/extended-properties" Target="/docProps/app.xml" Id="Raf917d4eb6f84c29" /><Relationship Type="http://schemas.openxmlformats.org/officeDocument/2006/relationships/officeDocument" Target="/ppt/presentation.xml" Id="R567983c1722d4d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5490636ecd4452"/>
  </p:sldMasterIdLst>
  <p:notesMasterIdLst>
    <p:notesMasterId xmlns:r="http://schemas.openxmlformats.org/officeDocument/2006/relationships" r:id="R9287fe422d134683"/>
  </p:notesMasterIdLst>
  <p:sldIdLst>
    <p:sldId xmlns:r="http://schemas.openxmlformats.org/officeDocument/2006/relationships" id="256" r:id="R7aebf09f80094a41"/>
    <p:sldId xmlns:r="http://schemas.openxmlformats.org/officeDocument/2006/relationships" id="257" r:id="R4ef656d028d34aec"/>
    <p:sldId xmlns:r="http://schemas.openxmlformats.org/officeDocument/2006/relationships" id="258" r:id="Ra6bba144705a46fd"/>
    <p:sldId xmlns:r="http://schemas.openxmlformats.org/officeDocument/2006/relationships" id="259" r:id="Rf845ba3696ca4969"/>
    <p:sldId xmlns:r="http://schemas.openxmlformats.org/officeDocument/2006/relationships" id="260" r:id="R907126e175fc4f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ceda16cbaa4385" /><Relationship Type="http://schemas.openxmlformats.org/officeDocument/2006/relationships/slideMaster" Target="/ppt/slideMasters/slideMaster1.xml" Id="Rfb5490636ecd4452" /><Relationship Type="http://schemas.openxmlformats.org/officeDocument/2006/relationships/notesMaster" Target="/ppt/notesMasters/notesMaster1.xml" Id="R9287fe422d134683" /><Relationship Type="http://schemas.openxmlformats.org/officeDocument/2006/relationships/presProps" Target="/ppt/presProps.xml" Id="Rc25ac9ed105f402c" /><Relationship Type="http://schemas.openxmlformats.org/officeDocument/2006/relationships/tableStyles" Target="/ppt/tableStyles.xml" Id="Rf5f187de57484ebf" /><Relationship Type="http://schemas.openxmlformats.org/officeDocument/2006/relationships/slide" Target="/ppt/slides/slide1.xml" Id="R7aebf09f80094a41" /><Relationship Type="http://schemas.openxmlformats.org/officeDocument/2006/relationships/slide" Target="/ppt/slides/slide2.xml" Id="R4ef656d028d34aec" /><Relationship Type="http://schemas.openxmlformats.org/officeDocument/2006/relationships/slide" Target="/ppt/slides/slide3.xml" Id="Ra6bba144705a46fd" /><Relationship Type="http://schemas.openxmlformats.org/officeDocument/2006/relationships/slide" Target="/ppt/slides/slide4.xml" Id="Rf845ba3696ca4969" /><Relationship Type="http://schemas.openxmlformats.org/officeDocument/2006/relationships/slide" Target="/ppt/slides/slide5.xml" Id="R907126e175fc4f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3ee057052a40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939a7adf1f4aa8" /><Relationship Type="http://schemas.openxmlformats.org/officeDocument/2006/relationships/notesMaster" Target="/ppt/notesMasters/notesMaster1.xml" Id="Rd165260e53ad46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d05ce038994a61" /><Relationship Type="http://schemas.openxmlformats.org/officeDocument/2006/relationships/notesMaster" Target="/ppt/notesMasters/notesMaster1.xml" Id="R1a12fca14b9b44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ca00f56a754967" /><Relationship Type="http://schemas.openxmlformats.org/officeDocument/2006/relationships/notesMaster" Target="/ppt/notesMasters/notesMaster1.xml" Id="R5f6f1e1faf2c4c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483b7bb82e4703" /><Relationship Type="http://schemas.openxmlformats.org/officeDocument/2006/relationships/notesMaster" Target="/ppt/notesMasters/notesMaster1.xml" Id="R1d0b4cb646e74e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8285e21c3f4708" /><Relationship Type="http://schemas.openxmlformats.org/officeDocument/2006/relationships/notesMaster" Target="/ppt/notesMasters/notesMaster1.xml" Id="Rb20bc4b61af94f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docs/SIH26153_CYBERMIND_Master_Plan.md, docs/TRACK_B_ANALYST_UI_AUDIT.md. Proposed workflow; operational benefit is not yet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configs/gb10_full.yaml; src/cybermind/models/world_model.py; src/cybermind/models/stage_decoder.py. Production configuration uses 60-second windows, 30-second stride, history16. Synthetic verification uses its separate fixture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image: artifacts/track_e/video/01-overview.png, captured from locally running scripts/app.py. Reviewed epoch185 checkpoint, synthetic test sequence0; no real-data accuracy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scripts/app.py; src/cybermind/analyst/view.py; root Track E corrected isolation verification. Same checkpoint, observed history and random draws. Incident-edge removal preserves measured node features. Earlier feature scaling increased risk and was an intervention-semantics defect, not evidence that physical isolation worsens security.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PHASE3_FINAL_AUDIT.md; docs/TRACK_A_BENCHMARK_AUDIT.md; examples/track_a_benchmark/selected185/comparison.json; current Phase4 and Track C/D audit status. Synthetic table covers25 targets(19 negatives,6 positives), one-step infiltration threshold0.5. Feature-matched logistic baseline ties the selected world model: F1=1,FPR=0. Epoch98 and200 fail step1 whereas selected185 passes. No superiority or real-data kill-chain accuracy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693e556d847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788bf632de4aef" /><Relationship Type="http://schemas.openxmlformats.org/officeDocument/2006/relationships/slideLayout" Target="/ppt/slideLayouts/slideLayout1.xml" Id="R5898efc8544d4d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98efc8544d4d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f24857f0e41ee" /><Relationship Type="http://schemas.openxmlformats.org/officeDocument/2006/relationships/notesSlide" Target="/ppt/notesSlides/notesSlide1.xml" Id="R313f08521a5942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c068fd5ac4ff7" /><Relationship Type="http://schemas.openxmlformats.org/officeDocument/2006/relationships/notesSlide" Target="/ppt/notesSlides/notesSlide2.xml" Id="Rb863bd70e18a4b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a27bc09164c37" /><Relationship Type="http://schemas.openxmlformats.org/officeDocument/2006/relationships/image" Target="/ppt/media/image.jpeg" Id="R76d7508675f24c25" /><Relationship Type="http://schemas.openxmlformats.org/officeDocument/2006/relationships/notesSlide" Target="/ppt/notesSlides/notesSlide3.xml" Id="Rc594e3276d6a4c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77e682e2549f1" /><Relationship Type="http://schemas.openxmlformats.org/officeDocument/2006/relationships/notesSlide" Target="/ppt/notesSlides/notesSlide4.xml" Id="R43636cd1044c44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145142cba4191" /><Relationship Type="http://schemas.openxmlformats.org/officeDocument/2006/relationships/notesSlide" Target="/ppt/notesSlides/notesSlide5.xml" Id="R04c59180182240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71AC9-8D57-4A2D-9724-DF4DFAC5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CYBERMIND: analyst decision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29B3C-5FDD-46E0-BD91-9EA968B7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90D8E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90D8E8"/>
                </a:solidFill>
                <a:latin typeface="Arial"/>
                <a:ea typeface="Arial"/>
                <a:cs typeface="Arial"/>
              </a:rPr>
              <a:t>Alerts describe events. Analysts still need context</a:t>
            </a:r>
          </a:p>
          <a:p xmlns:a="http://schemas.openxmlformats.org/drawingml/2006/main">
            <a:pPr>
              <a:defRPr sz="3000" b="0">
                <a:solidFill>
                  <a:srgbClr val="90D8E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90D8E8"/>
                </a:solidFill>
                <a:latin typeface="Arial"/>
                <a:ea typeface="Arial"/>
                <a:cs typeface="Arial"/>
              </a:rPr>
              <a:t>to decide what to inspect next.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F0FE3-8DFF-4D95-9080-B721DD6D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network  →  future risk  →  sensitivity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32E01-29C3-4D06-9AE1-DE97BCFA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8EE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EEF4"/>
                </a:solidFill>
                <a:latin typeface="Arial"/>
                <a:ea typeface="Arial"/>
                <a:cs typeface="Arial"/>
              </a:rPr>
              <a:t>The local console connects the forecast to its input graph,</a:t>
            </a:r>
          </a:p>
          <a:p xmlns:a="http://schemas.openxmlformats.org/drawingml/2006/main">
            <a:pPr>
              <a:defRPr sz="2250" b="0">
                <a:solidFill>
                  <a:srgbClr val="E8EE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EEF4"/>
                </a:solidFill>
                <a:latin typeface="Arial"/>
                <a:ea typeface="Arial"/>
                <a:cs typeface="Arial"/>
              </a:rPr>
              <a:t>model explanation and checkpoint lineage.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27EF6-010E-4358-9A4E-7235E33D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8B8C9"/>
                </a:solidFill>
                <a:latin typeface="Arial"/>
                <a:ea typeface="Arial"/>
                <a:cs typeface="Arial"/>
              </a:rPr>
              <a:t>Prototype demonstration • Synthetic verification data</a:t>
            </a:r>
          </a:p>
        </p:txBody>
      </p:sp>
    </p:spTree>
    <p:extLst>
      <p:ext uri="{BB962C8B-B14F-4D97-AF65-F5344CB8AC3E}">
        <p14:creationId xmlns:p14="http://schemas.microsoft.com/office/powerpoint/2010/main" val="1480835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480B0-602D-4322-9B88-5420A60A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Temporal graph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9D7EF-A169-476E-BCC8-44C698C4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90D8E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90D8E8"/>
                </a:solidFill>
                <a:latin typeface="Arial"/>
                <a:ea typeface="Arial"/>
                <a:cs typeface="Arial"/>
              </a:rPr>
              <a:t>60-second graph windows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C0067-6206-4272-971F-BD857BFE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8EE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8EEF4"/>
                </a:solidFill>
                <a:latin typeface="Arial"/>
                <a:ea typeface="Arial"/>
                <a:cs typeface="Arial"/>
              </a:rPr>
              <a:t>Hosts form nodes; flows and packet telemetry describe edges.</a:t>
            </a:r>
          </a:p>
          <a:p xmlns:a="http://schemas.openxmlformats.org/drawingml/2006/main">
            <a:pPr>
              <a:defRPr sz="2175" b="0">
                <a:solidFill>
                  <a:srgbClr val="E8EE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8EEF4"/>
                </a:solidFill>
                <a:latin typeface="Arial"/>
                <a:ea typeface="Arial"/>
                <a:cs typeface="Arial"/>
              </a:rPr>
              <a:t>A 30-second stride preserves overlap across 16 observed windows.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5BED6-D6BB-42AE-8C0B-D36BB4A1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Edge-aware GATv2   →   temporal Transformer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519D5-C071-475D-AD66-4E03F225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8EE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8EEF4"/>
                </a:solidFill>
                <a:latin typeface="Arial"/>
                <a:ea typeface="Arial"/>
                <a:cs typeface="Arial"/>
              </a:rPr>
              <a:t>Latent dynamics produce risk rollouts and stage emissions.</a:t>
            </a:r>
          </a:p>
          <a:p xmlns:a="http://schemas.openxmlformats.org/drawingml/2006/main">
            <a:pPr>
              <a:defRPr sz="2175" b="0">
                <a:solidFill>
                  <a:srgbClr val="E8EE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8EEF4"/>
                </a:solidFill>
                <a:latin typeface="Arial"/>
                <a:ea typeface="Arial"/>
                <a:cs typeface="Arial"/>
              </a:rPr>
              <a:t>The CRF constrains decoded transitions to the reviewed policy.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1F54D-7026-4769-94D4-1081353D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912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8C9"/>
                </a:solidFill>
                <a:latin typeface="Arial"/>
                <a:ea typeface="Arial"/>
                <a:cs typeface="Arial"/>
              </a:rPr>
              <a:t>Packet-complete preparation remains a prerequisite for the production run.</a:t>
            </a:r>
          </a:p>
        </p:txBody>
      </p:sp>
    </p:spTree>
    <p:extLst>
      <p:ext uri="{BB962C8B-B14F-4D97-AF65-F5344CB8AC3E}">
        <p14:creationId xmlns:p14="http://schemas.microsoft.com/office/powerpoint/2010/main" val="231311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A978D-AA92-498A-91AA-8B9B3E9D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Analyst console: actual local inference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7508675f24c25"/>
          <a:stretch xmlns:a="http://schemas.openxmlformats.org/drawingml/2006/main"/>
        </p:blipFill>
        <p:spPr>
          <a:xfrm xmlns:a="http://schemas.openxmlformats.org/drawingml/2006/main">
            <a:off x="2032000" y="1352550"/>
            <a:ext cx="8128000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3A7DE-BFD9-4FBC-BFB6-CB87ECC7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24575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0D8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0D8E8"/>
                </a:solidFill>
                <a:latin typeface="Arial"/>
                <a:ea typeface="Arial"/>
                <a:cs typeface="Arial"/>
              </a:rPr>
              <a:t>Observed topology, named forecast steps, uncertainty and case lineage</a:t>
            </a:r>
          </a:p>
        </p:txBody>
      </p:sp>
    </p:spTree>
    <p:extLst>
      <p:ext uri="{BB962C8B-B14F-4D97-AF65-F5344CB8AC3E}">
        <p14:creationId xmlns:p14="http://schemas.microsoft.com/office/powerpoint/2010/main" val="10899735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3ECC3-4DEE-41EE-A713-E982D8A6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Isolation probe: no measured risk reduction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31B57-2FD1-4856-8DD8-B390125E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90D8E8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90D8E8"/>
                </a:solidFill>
                <a:latin typeface="Arial"/>
                <a:ea typeface="Arial"/>
                <a:cs typeface="Arial"/>
              </a:rPr>
              <a:t>74.96%  →  74.96%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12ADF-8770-452D-A9CE-2934F456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8EE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EEF4"/>
                </a:solidFill>
                <a:latin typeface="Arial"/>
                <a:ea typeface="Arial"/>
                <a:cs typeface="Arial"/>
              </a:rPr>
              <a:t>Baseline risk          Edge-cut probe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93D76-2027-4B97-92B3-18F85E70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620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8EE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EEF4"/>
                </a:solidFill>
                <a:latin typeface="Arial"/>
                <a:ea typeface="Arial"/>
                <a:cs typeface="Arial"/>
              </a:rPr>
              <a:t>The corrected probe removes incident edges while retaining</a:t>
            </a:r>
          </a:p>
          <a:p xmlns:a="http://schemas.openxmlformats.org/drawingml/2006/main">
            <a:pPr>
              <a:defRPr sz="2250" b="0">
                <a:solidFill>
                  <a:srgbClr val="E8EE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EEF4"/>
                </a:solidFill>
                <a:latin typeface="Arial"/>
                <a:ea typeface="Arial"/>
                <a:cs typeface="Arial"/>
              </a:rPr>
              <a:t>measured node features, history and random draws.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4EA14-B347-4E33-9B47-6E231AE1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case supplies no evidence of a helpful action.</a:t>
            </a:r>
          </a:p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comparison measures model sensitivity, not causality.</a:t>
            </a:r>
          </a:p>
        </p:txBody>
      </p:sp>
    </p:spTree>
    <p:extLst>
      <p:ext uri="{BB962C8B-B14F-4D97-AF65-F5344CB8AC3E}">
        <p14:creationId xmlns:p14="http://schemas.microsoft.com/office/powerpoint/2010/main" val="1510304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55D8B-E2AD-44BA-86EC-97637013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and the next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4E5E3-2B17-4C9F-A86D-92DA40BB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0D8E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0D8E8"/>
                </a:solidFill>
                <a:latin typeface="Arial"/>
                <a:ea typeface="Arial"/>
                <a:cs typeface="Arial"/>
              </a:rPr>
              <a:t>Phase 3 passes under the reviewed protocol</a:t>
            </a:r>
          </a:p>
          <a:p xmlns:a="http://schemas.openxmlformats.org/drawingml/2006/main">
            <a:pPr>
              <a:defRPr sz="2550" b="1">
                <a:solidFill>
                  <a:srgbClr val="90D8E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0D8E8"/>
                </a:solidFill>
                <a:latin typeface="Arial"/>
                <a:ea typeface="Arial"/>
                <a:cs typeface="Arial"/>
              </a:rPr>
              <a:t>on synthetic verification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6E249-FA26-4658-9C00-3B0C6B53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4797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8EE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4"/>
                </a:solidFill>
                <a:latin typeface="Arial"/>
                <a:ea typeface="Arial"/>
                <a:cs typeface="Arial"/>
              </a:rPr>
              <a:t>Epoch 185 passes all four steps; epochs 98 and 200 fail step 1.</a:t>
            </a:r>
          </a:p>
          <a:p xmlns:a="http://schemas.openxmlformats.org/drawingml/2006/main">
            <a:pPr>
              <a:defRPr sz="2100" b="0">
                <a:solidFill>
                  <a:srgbClr val="E8EE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4"/>
                </a:solidFill>
                <a:latin typeface="Arial"/>
                <a:ea typeface="Arial"/>
                <a:cs typeface="Arial"/>
              </a:rPr>
              <a:t>The result is a narrow selected checkpoint, not a stable plateau.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E03D9-B1FF-4B18-8B96-A55B55C6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1062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8EE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4"/>
                </a:solidFill>
                <a:latin typeface="Arial"/>
                <a:ea typeface="Arial"/>
                <a:cs typeface="Arial"/>
              </a:rPr>
              <a:t>Feature-matched baseline and world model tie: F1 1.00, FPR 0.00.</a:t>
            </a:r>
          </a:p>
          <a:p xmlns:a="http://schemas.openxmlformats.org/drawingml/2006/main">
            <a:pPr>
              <a:defRPr sz="2100" b="0">
                <a:solidFill>
                  <a:srgbClr val="E8EE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4"/>
                </a:solidFill>
                <a:latin typeface="Arial"/>
                <a:ea typeface="Arial"/>
                <a:cs typeface="Arial"/>
              </a:rPr>
              <a:t>Real-data accuracy and superiority remain unmeasured.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25502-E371-4FE8-96C0-1B5DEB5E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1062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gate: validate the one-day packet/flow join and labels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a separately authorized production training run.</a:t>
            </a:r>
          </a:p>
        </p:txBody>
      </p:sp>
    </p:spTree>
    <p:extLst>
      <p:ext uri="{BB962C8B-B14F-4D97-AF65-F5344CB8AC3E}">
        <p14:creationId xmlns:p14="http://schemas.microsoft.com/office/powerpoint/2010/main" val="596648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2026-09-14T13:31:36.9640000Z</dcterms:created>
  <dcterms:modified xsi:type="dcterms:W3CDTF">2026-09-14T13:31:36.9640000Z</dcterms:modified>
</coreProperties>
</file>